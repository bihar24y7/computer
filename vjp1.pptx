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4" r:id="rId29"/>
    <p:sldId id="286" r:id="rId30"/>
    <p:sldId id="287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0F5D6-72BF-7E0E-1866-377D249AD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F93C03-CF14-76FB-1221-209142448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85C1B-50D5-930D-6D2A-F445DD28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C5237-B4D9-2E93-BEF1-C58FC3C2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50D9F-E3C0-9E31-ACCE-EADCFBB1E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87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9207-016B-A664-B738-6AB35A39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4EC53-89CE-81F4-20C6-8C011145C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8A712-128B-0256-8963-9D915492C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45C15-F76D-B54F-142D-374C76462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58869-07DD-E5A5-B1C0-96ACD66BF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98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96E9-4AEB-4B4B-BB18-6A8AC8402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0047E-647F-7F97-A6E3-3C787E6CE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8619C-CC7B-C991-1179-76073996B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5AFCA-E4F3-82DB-2729-0EB409B36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FB247-186D-85F8-A85D-A045BAE3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06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BB7A-9742-A5C6-234A-AFC8CF3F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07495-3F2F-C08B-4619-246D98D9C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AE46A-A877-B543-C082-EDCB5E2C0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E653C-B917-4F3D-64C3-2BDC40C3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8D98-AD18-0FA6-FB7C-2636664B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6E7F7-C405-F161-6AD7-07D4E3C6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51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8403-8AD3-FD19-6309-383808AF7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2266D-78A5-91B6-F14F-90F35B20A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4F344-4FD8-39FA-84EE-83A645B50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3F235-E188-8EDB-F3C6-D7DFF2E565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D15A47-3049-7A82-D595-757262F4F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FE8A6A-D5C0-0429-559F-28E2586E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7D2627-8288-6C87-8938-A6787A19E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B1CAA6-0771-1814-D72B-60AC5F1F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68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51AD-BD85-3F33-30E7-C18024BEC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E1760C-CBC2-55E8-6493-72DF61F9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E2123-FC27-CC5D-44F7-F82D3E0B6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C54D2-E73B-2ECE-A4B2-615D44AA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6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0B0CD-8BCF-D415-2BA8-0FAB3801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7ECFF-FC5F-731C-088C-055841B0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943D7-F624-928F-3854-4BCEE334B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46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DD1AB-39D9-BEEF-4489-F2A4E4893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CC191-5645-0437-231E-14F912CD5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448F9-52C0-B92D-3075-CC4EBA453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2872B-71B0-AE0F-E1D9-AF3E6C02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8831F-6843-6132-20E0-60BD4D81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0D44C-75A1-0DB2-A165-4BD88316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1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4DC9-D8F3-8286-0826-46DE2F4AF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E5631-6C2B-DEEB-06A4-57C33E533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E94B2-0A87-07F4-502B-1F9E4E78A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8D9C5-8031-771C-D26C-4A1B5433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36748-2FDC-1FA7-903F-99326D4B5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DEF5C-2F8E-15A3-213D-5CC5F101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82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02120-0249-F14A-3336-D87596D9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E3D44-0E78-2869-5198-D6DB04C33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52A3F-970F-5C3D-AE4F-4DEB737FE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E1C91-5665-DBAA-61BB-4664C91E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E6850-7E11-DBD2-8D87-3A07778A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4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7BA664-41F6-906D-502C-740F5C9D5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3D1ED-48B5-C887-D6C3-436345AE6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1519E-485F-0F00-2C0C-4DCD6357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24D4-A990-7C13-445B-CD540314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0E38E-0ABA-D9CE-CDBE-F293FBA9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8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F149BB-1B9B-203B-7457-A576E6757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C3C06-8ABD-FBEF-001C-9EF944480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E4514-A4D6-B6DB-AE39-D34C236D9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8B8E2-447D-4370-9A70-81CAFD6BEB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83CD7-5AFD-629C-C4D3-12A8B5951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18971-B734-6972-4C66-AD04FB4B7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884B8-CF3E-4E7B-877A-0BE0DD88B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B40761-F58D-DB13-F61A-67045BD537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b="1" dirty="0"/>
              <a:t>Advantage </a:t>
            </a:r>
          </a:p>
          <a:p>
            <a:pPr algn="ctr"/>
            <a:r>
              <a:rPr lang="en-US" sz="16600" b="1" dirty="0"/>
              <a:t>of Computer</a:t>
            </a:r>
          </a:p>
        </p:txBody>
      </p:sp>
    </p:spTree>
    <p:extLst>
      <p:ext uri="{BB962C8B-B14F-4D97-AF65-F5344CB8AC3E}">
        <p14:creationId xmlns:p14="http://schemas.microsoft.com/office/powerpoint/2010/main" val="124731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353592-B11B-65CA-3CEC-7BE131EAF20A}"/>
              </a:ext>
            </a:extLst>
          </p:cNvPr>
          <p:cNvSpPr/>
          <p:nvPr/>
        </p:nvSpPr>
        <p:spPr>
          <a:xfrm>
            <a:off x="8875849" y="3161654"/>
            <a:ext cx="3053166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Speed</a:t>
            </a:r>
          </a:p>
        </p:txBody>
      </p:sp>
      <p:pic>
        <p:nvPicPr>
          <p:cNvPr id="4102" name="Picture 6" descr="Animated Computers GIFs | Tenor">
            <a:extLst>
              <a:ext uri="{FF2B5EF4-FFF2-40B4-BE49-F238E27FC236}">
                <a16:creationId xmlns:a16="http://schemas.microsoft.com/office/drawing/2014/main" id="{FF04FEF5-FD83-C818-FB69-5B37C7A6C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58" y="581920"/>
            <a:ext cx="6483860" cy="515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604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chieving Accuracy and Precision in Inventory and Order Management">
            <a:extLst>
              <a:ext uri="{FF2B5EF4-FFF2-40B4-BE49-F238E27FC236}">
                <a16:creationId xmlns:a16="http://schemas.microsoft.com/office/drawing/2014/main" id="{97EFFD44-5D9F-EE94-50C0-83DAFE7E3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307" y="475120"/>
            <a:ext cx="8938432" cy="563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3B2016-98F0-B40A-C6A4-B756A745FB87}"/>
              </a:ext>
            </a:extLst>
          </p:cNvPr>
          <p:cNvSpPr/>
          <p:nvPr/>
        </p:nvSpPr>
        <p:spPr>
          <a:xfrm>
            <a:off x="8028122" y="3161654"/>
            <a:ext cx="3900893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Accuracy</a:t>
            </a:r>
          </a:p>
        </p:txBody>
      </p:sp>
    </p:spTree>
    <p:extLst>
      <p:ext uri="{BB962C8B-B14F-4D97-AF65-F5344CB8AC3E}">
        <p14:creationId xmlns:p14="http://schemas.microsoft.com/office/powerpoint/2010/main" val="180148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liability - Free computer icons">
            <a:extLst>
              <a:ext uri="{FF2B5EF4-FFF2-40B4-BE49-F238E27FC236}">
                <a16:creationId xmlns:a16="http://schemas.microsoft.com/office/drawing/2014/main" id="{5CE1727C-4E9F-292B-C040-2D6A1A2C9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17" y="308674"/>
            <a:ext cx="6092126" cy="609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A4BC3D-1A87-C7B1-A20F-6C1002D90CB8}"/>
              </a:ext>
            </a:extLst>
          </p:cNvPr>
          <p:cNvSpPr/>
          <p:nvPr/>
        </p:nvSpPr>
        <p:spPr>
          <a:xfrm>
            <a:off x="7563174" y="3161654"/>
            <a:ext cx="4365842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579110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5D7DC04-A991-2983-5F63-D6FD76F7B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641383" cy="446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6FBDEFA-3551-4314-397A-E14A36319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383" y="0"/>
            <a:ext cx="6447697" cy="446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78278A-112D-F8DE-9397-81082EDAB620}"/>
              </a:ext>
            </a:extLst>
          </p:cNvPr>
          <p:cNvSpPr/>
          <p:nvPr/>
        </p:nvSpPr>
        <p:spPr>
          <a:xfrm>
            <a:off x="5044455" y="4932335"/>
            <a:ext cx="4365842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Automatic</a:t>
            </a:r>
          </a:p>
        </p:txBody>
      </p:sp>
    </p:spTree>
    <p:extLst>
      <p:ext uri="{BB962C8B-B14F-4D97-AF65-F5344CB8AC3E}">
        <p14:creationId xmlns:p14="http://schemas.microsoft.com/office/powerpoint/2010/main" val="282836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B77D49-355F-F75A-6DB4-C11911D251E5}"/>
              </a:ext>
            </a:extLst>
          </p:cNvPr>
          <p:cNvSpPr/>
          <p:nvPr/>
        </p:nvSpPr>
        <p:spPr>
          <a:xfrm>
            <a:off x="3277647" y="5058905"/>
            <a:ext cx="6021335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Multi-Tasking</a:t>
            </a:r>
          </a:p>
        </p:txBody>
      </p:sp>
      <p:pic>
        <p:nvPicPr>
          <p:cNvPr id="5124" name="Picture 4" descr="JewelSocial™">
            <a:extLst>
              <a:ext uri="{FF2B5EF4-FFF2-40B4-BE49-F238E27FC236}">
                <a16:creationId xmlns:a16="http://schemas.microsoft.com/office/drawing/2014/main" id="{38C8D5FE-0945-2F30-56A5-C4E7833E8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32" y="0"/>
            <a:ext cx="6667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Video and Chat in Computer - GIF by Dibakar Jana on Dribbble">
            <a:extLst>
              <a:ext uri="{FF2B5EF4-FFF2-40B4-BE49-F238E27FC236}">
                <a16:creationId xmlns:a16="http://schemas.microsoft.com/office/drawing/2014/main" id="{9F65D7CD-1156-32FE-009F-21FBD9A7B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032" y="0"/>
            <a:ext cx="5364996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516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yber Security Gifs">
            <a:extLst>
              <a:ext uri="{FF2B5EF4-FFF2-40B4-BE49-F238E27FC236}">
                <a16:creationId xmlns:a16="http://schemas.microsoft.com/office/drawing/2014/main" id="{39DBB7FC-B468-F656-4C79-09678E7B9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91" y="702912"/>
            <a:ext cx="7120906" cy="587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16101E-44FC-4F9A-2598-32D2B7F99796}"/>
              </a:ext>
            </a:extLst>
          </p:cNvPr>
          <p:cNvSpPr/>
          <p:nvPr/>
        </p:nvSpPr>
        <p:spPr>
          <a:xfrm>
            <a:off x="7935132" y="2184857"/>
            <a:ext cx="4256868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84424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Understanding Applications | Codecademy">
            <a:extLst>
              <a:ext uri="{FF2B5EF4-FFF2-40B4-BE49-F238E27FC236}">
                <a16:creationId xmlns:a16="http://schemas.microsoft.com/office/drawing/2014/main" id="{6B254997-3F8F-96FB-2BDB-84421DAC7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2" y="0"/>
            <a:ext cx="12052515" cy="5130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1B2025-6859-C4F5-0FA3-ADC9D8D1BF9A}"/>
              </a:ext>
            </a:extLst>
          </p:cNvPr>
          <p:cNvSpPr/>
          <p:nvPr/>
        </p:nvSpPr>
        <p:spPr>
          <a:xfrm>
            <a:off x="3549112" y="5292673"/>
            <a:ext cx="4256868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Versatile</a:t>
            </a:r>
          </a:p>
        </p:txBody>
      </p:sp>
    </p:spTree>
    <p:extLst>
      <p:ext uri="{BB962C8B-B14F-4D97-AF65-F5344CB8AC3E}">
        <p14:creationId xmlns:p14="http://schemas.microsoft.com/office/powerpoint/2010/main" val="74844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E5A1-1B10-E079-4857-AC1293A9A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9DA867-575A-B796-00FD-A355EAEFFC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b="1" dirty="0"/>
              <a:t>Dis-Advantage</a:t>
            </a:r>
            <a:r>
              <a:rPr lang="en-US" sz="16600" b="1" dirty="0"/>
              <a:t> </a:t>
            </a:r>
          </a:p>
          <a:p>
            <a:pPr algn="ctr"/>
            <a:r>
              <a:rPr lang="en-US" sz="16600" b="1" dirty="0"/>
              <a:t>of Computer</a:t>
            </a:r>
          </a:p>
        </p:txBody>
      </p:sp>
    </p:spTree>
    <p:extLst>
      <p:ext uri="{BB962C8B-B14F-4D97-AF65-F5344CB8AC3E}">
        <p14:creationId xmlns:p14="http://schemas.microsoft.com/office/powerpoint/2010/main" val="1306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🧘♂️Navigating Workplace Overwhelm: Strategies for Prioritizing Your Mental  Health and Productivity">
            <a:extLst>
              <a:ext uri="{FF2B5EF4-FFF2-40B4-BE49-F238E27FC236}">
                <a16:creationId xmlns:a16="http://schemas.microsoft.com/office/drawing/2014/main" id="{CF6AA1FA-D3A8-BBF6-AAF9-35E6B3499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5563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C7DA42-F15B-EFF4-D2F6-0C8264D2D381}"/>
              </a:ext>
            </a:extLst>
          </p:cNvPr>
          <p:cNvSpPr/>
          <p:nvPr/>
        </p:nvSpPr>
        <p:spPr>
          <a:xfrm>
            <a:off x="216976" y="5401159"/>
            <a:ext cx="11975024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Physical and Mental Health Risks</a:t>
            </a:r>
          </a:p>
        </p:txBody>
      </p:sp>
    </p:spTree>
    <p:extLst>
      <p:ext uri="{BB962C8B-B14F-4D97-AF65-F5344CB8AC3E}">
        <p14:creationId xmlns:p14="http://schemas.microsoft.com/office/powerpoint/2010/main" val="311990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yber Security Gifs">
            <a:extLst>
              <a:ext uri="{FF2B5EF4-FFF2-40B4-BE49-F238E27FC236}">
                <a16:creationId xmlns:a16="http://schemas.microsoft.com/office/drawing/2014/main" id="{D9DEC91F-1E8F-963B-0195-1FB93D95F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21" y="0"/>
            <a:ext cx="11677972" cy="558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8A840F-D64D-4780-ACDE-850CBB6F806B}"/>
              </a:ext>
            </a:extLst>
          </p:cNvPr>
          <p:cNvSpPr/>
          <p:nvPr/>
        </p:nvSpPr>
        <p:spPr>
          <a:xfrm>
            <a:off x="216976" y="5401159"/>
            <a:ext cx="11975024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Security and Privacy Risks</a:t>
            </a:r>
          </a:p>
        </p:txBody>
      </p:sp>
    </p:spTree>
    <p:extLst>
      <p:ext uri="{BB962C8B-B14F-4D97-AF65-F5344CB8AC3E}">
        <p14:creationId xmlns:p14="http://schemas.microsoft.com/office/powerpoint/2010/main" val="2054402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dvancing Electrical Engineering Through Machine Learning: Unleashing  Potential in Datasets | by SOHEL RANA | Medium">
            <a:extLst>
              <a:ext uri="{FF2B5EF4-FFF2-40B4-BE49-F238E27FC236}">
                <a16:creationId xmlns:a16="http://schemas.microsoft.com/office/drawing/2014/main" id="{8EF4AF9C-94E3-5F77-9C95-79E52E968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336652" cy="573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0F6BF1-6CF1-0925-C2BC-08CB80F6076B}"/>
              </a:ext>
            </a:extLst>
          </p:cNvPr>
          <p:cNvSpPr/>
          <p:nvPr/>
        </p:nvSpPr>
        <p:spPr>
          <a:xfrm>
            <a:off x="216976" y="5401159"/>
            <a:ext cx="11975024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More Power Consumption</a:t>
            </a:r>
          </a:p>
        </p:txBody>
      </p:sp>
    </p:spTree>
    <p:extLst>
      <p:ext uri="{BB962C8B-B14F-4D97-AF65-F5344CB8AC3E}">
        <p14:creationId xmlns:p14="http://schemas.microsoft.com/office/powerpoint/2010/main" val="2079098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ow To Survive Automation. Where's your place in the future of… | by Sam  Brinson | OneZero">
            <a:extLst>
              <a:ext uri="{FF2B5EF4-FFF2-40B4-BE49-F238E27FC236}">
                <a16:creationId xmlns:a16="http://schemas.microsoft.com/office/drawing/2014/main" id="{9689D56D-0115-045D-73E4-145C9DCF5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305654" cy="540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E59878-4DF1-4393-ECDC-72D4F1C4C8FD}"/>
              </a:ext>
            </a:extLst>
          </p:cNvPr>
          <p:cNvSpPr/>
          <p:nvPr/>
        </p:nvSpPr>
        <p:spPr>
          <a:xfrm>
            <a:off x="216976" y="5401159"/>
            <a:ext cx="11975024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Can </a:t>
            </a:r>
            <a:r>
              <a:rPr lang="en-US" sz="6600" b="1" dirty="0" err="1"/>
              <a:t>Reduse</a:t>
            </a:r>
            <a:r>
              <a:rPr lang="en-US" sz="6600" b="1" dirty="0"/>
              <a:t> Jobs</a:t>
            </a:r>
          </a:p>
        </p:txBody>
      </p:sp>
    </p:spTree>
    <p:extLst>
      <p:ext uri="{BB962C8B-B14F-4D97-AF65-F5344CB8AC3E}">
        <p14:creationId xmlns:p14="http://schemas.microsoft.com/office/powerpoint/2010/main" val="2330723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omputer Genius GIFs - Find &amp; Share on GIPHY">
            <a:extLst>
              <a:ext uri="{FF2B5EF4-FFF2-40B4-BE49-F238E27FC236}">
                <a16:creationId xmlns:a16="http://schemas.microsoft.com/office/drawing/2014/main" id="{B100E87F-1C4A-0C4A-C9F7-579D36B54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32" y="151753"/>
            <a:ext cx="6030778" cy="603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32A91D6-707E-825D-9174-9A7848F5594D}"/>
              </a:ext>
            </a:extLst>
          </p:cNvPr>
          <p:cNvSpPr/>
          <p:nvPr/>
        </p:nvSpPr>
        <p:spPr>
          <a:xfrm>
            <a:off x="6772758" y="1710301"/>
            <a:ext cx="5636217" cy="14568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No I.Q.</a:t>
            </a:r>
          </a:p>
        </p:txBody>
      </p:sp>
    </p:spTree>
    <p:extLst>
      <p:ext uri="{BB962C8B-B14F-4D97-AF65-F5344CB8AC3E}">
        <p14:creationId xmlns:p14="http://schemas.microsoft.com/office/powerpoint/2010/main" val="2091216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D31FE-B074-6613-A5A2-F03793E82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FC1F07-915D-F53E-5832-3A11F142C5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b="1" dirty="0"/>
              <a:t>Types Of Computer</a:t>
            </a:r>
          </a:p>
        </p:txBody>
      </p:sp>
    </p:spTree>
    <p:extLst>
      <p:ext uri="{BB962C8B-B14F-4D97-AF65-F5344CB8AC3E}">
        <p14:creationId xmlns:p14="http://schemas.microsoft.com/office/powerpoint/2010/main" val="3801368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Signageshop Male Female Sign On Silver Plate (Pack Of 5 Sets) : Amazon.in:  Industrial &amp; Scientific">
            <a:extLst>
              <a:ext uri="{FF2B5EF4-FFF2-40B4-BE49-F238E27FC236}">
                <a16:creationId xmlns:a16="http://schemas.microsoft.com/office/drawing/2014/main" id="{03A511B2-CAF1-8999-B0B6-1E45CE186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34" y="279614"/>
            <a:ext cx="3077705" cy="307770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Cartoon Two Men, Short Man and Tall Man. Stock Vector - Illustration of  icon, friendship: 184323599">
            <a:extLst>
              <a:ext uri="{FF2B5EF4-FFF2-40B4-BE49-F238E27FC236}">
                <a16:creationId xmlns:a16="http://schemas.microsoft.com/office/drawing/2014/main" id="{4E3ED822-7E41-91F4-9B5C-03B61D876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067" y="183061"/>
            <a:ext cx="3279139" cy="327081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I used to hate being light-skinned - The Race Card Project">
            <a:extLst>
              <a:ext uri="{FF2B5EF4-FFF2-40B4-BE49-F238E27FC236}">
                <a16:creationId xmlns:a16="http://schemas.microsoft.com/office/drawing/2014/main" id="{6AAC1116-E230-0A47-410A-3A473EC8E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398" y="279614"/>
            <a:ext cx="4103606" cy="307770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 descr="Different Religious People Icon: Over 656 Royalty-Free Licensable Stock  Illustrations &amp; Drawings | Shutterstock">
            <a:extLst>
              <a:ext uri="{FF2B5EF4-FFF2-40B4-BE49-F238E27FC236}">
                <a16:creationId xmlns:a16="http://schemas.microsoft.com/office/drawing/2014/main" id="{52999F66-5B0A-19C7-DE9F-524A2286B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480" y="3817439"/>
            <a:ext cx="10121039" cy="28575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632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002F90-C35D-6963-778A-2EF3AD9B1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407"/>
            <a:ext cx="11933695" cy="587385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27B7C9-D854-7655-A9B0-AF7D344A747E}"/>
              </a:ext>
            </a:extLst>
          </p:cNvPr>
          <p:cNvSpPr/>
          <p:nvPr/>
        </p:nvSpPr>
        <p:spPr>
          <a:xfrm>
            <a:off x="123986" y="0"/>
            <a:ext cx="12068014" cy="79041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Classification of Computer = 4 types</a:t>
            </a:r>
          </a:p>
        </p:txBody>
      </p:sp>
    </p:spTree>
    <p:extLst>
      <p:ext uri="{BB962C8B-B14F-4D97-AF65-F5344CB8AC3E}">
        <p14:creationId xmlns:p14="http://schemas.microsoft.com/office/powerpoint/2010/main" val="3611195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Evolution by Lemons Animation Studio on Dribbble">
            <a:extLst>
              <a:ext uri="{FF2B5EF4-FFF2-40B4-BE49-F238E27FC236}">
                <a16:creationId xmlns:a16="http://schemas.microsoft.com/office/drawing/2014/main" id="{462BB9ED-7D81-688B-9EDD-E4A4AB171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13" y="1565329"/>
            <a:ext cx="10763573" cy="504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821BB1-5F28-0271-A83E-B546AB352D77}"/>
              </a:ext>
            </a:extLst>
          </p:cNvPr>
          <p:cNvSpPr/>
          <p:nvPr/>
        </p:nvSpPr>
        <p:spPr>
          <a:xfrm>
            <a:off x="2681207" y="185980"/>
            <a:ext cx="6958739" cy="137934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Human Evolution</a:t>
            </a:r>
          </a:p>
        </p:txBody>
      </p:sp>
    </p:spTree>
    <p:extLst>
      <p:ext uri="{BB962C8B-B14F-4D97-AF65-F5344CB8AC3E}">
        <p14:creationId xmlns:p14="http://schemas.microsoft.com/office/powerpoint/2010/main" val="3147593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B8E47B-C28C-C1F5-8915-A546F1169E1E}"/>
              </a:ext>
            </a:extLst>
          </p:cNvPr>
          <p:cNvSpPr/>
          <p:nvPr/>
        </p:nvSpPr>
        <p:spPr>
          <a:xfrm>
            <a:off x="0" y="77493"/>
            <a:ext cx="12192000" cy="137934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Computer Evolution (History)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B19FD-F5FD-AF4C-6DA0-6F1D66C8CD00}"/>
              </a:ext>
            </a:extLst>
          </p:cNvPr>
          <p:cNvSpPr/>
          <p:nvPr/>
        </p:nvSpPr>
        <p:spPr>
          <a:xfrm>
            <a:off x="0" y="1503336"/>
            <a:ext cx="5393410" cy="53236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Types = 5</a:t>
            </a:r>
          </a:p>
          <a:p>
            <a:pPr marL="342900" indent="-342900" algn="ctr">
              <a:buAutoNum type="arabicPeriod"/>
            </a:pPr>
            <a:r>
              <a:rPr lang="en-US" sz="5400" b="1" dirty="0"/>
              <a:t>1</a:t>
            </a:r>
            <a:r>
              <a:rPr lang="en-US" sz="5400" b="1" baseline="30000" dirty="0"/>
              <a:t>st</a:t>
            </a:r>
            <a:r>
              <a:rPr lang="en-US" sz="5400" b="1" dirty="0"/>
              <a:t> Generation</a:t>
            </a:r>
          </a:p>
          <a:p>
            <a:pPr marL="342900" indent="-342900" algn="ctr">
              <a:buAutoNum type="arabicPeriod"/>
            </a:pPr>
            <a:r>
              <a:rPr lang="en-US" sz="5400" b="1" dirty="0"/>
              <a:t>2</a:t>
            </a:r>
            <a:r>
              <a:rPr lang="en-US" sz="5400" b="1" baseline="30000" dirty="0"/>
              <a:t>nd</a:t>
            </a:r>
            <a:r>
              <a:rPr lang="en-US" sz="5400" b="1" dirty="0"/>
              <a:t> Generation</a:t>
            </a:r>
          </a:p>
          <a:p>
            <a:pPr marL="342900" indent="-342900" algn="ctr">
              <a:buAutoNum type="arabicPeriod"/>
            </a:pPr>
            <a:r>
              <a:rPr lang="en-US" sz="5400" b="1" dirty="0"/>
              <a:t>3</a:t>
            </a:r>
            <a:r>
              <a:rPr lang="en-US" sz="5400" b="1" baseline="30000" dirty="0"/>
              <a:t>rd</a:t>
            </a:r>
            <a:r>
              <a:rPr lang="en-US" sz="5400" b="1" dirty="0"/>
              <a:t> Generation</a:t>
            </a:r>
          </a:p>
          <a:p>
            <a:pPr marL="342900" indent="-342900" algn="ctr">
              <a:buAutoNum type="arabicPeriod"/>
            </a:pPr>
            <a:r>
              <a:rPr lang="en-US" sz="5400" b="1" dirty="0"/>
              <a:t> 4</a:t>
            </a:r>
            <a:r>
              <a:rPr lang="en-US" sz="5400" b="1" baseline="30000" dirty="0"/>
              <a:t>th</a:t>
            </a:r>
            <a:r>
              <a:rPr lang="en-US" sz="5400" b="1" dirty="0"/>
              <a:t> Generation</a:t>
            </a:r>
          </a:p>
          <a:p>
            <a:pPr marL="342900" indent="-342900" algn="ctr">
              <a:buAutoNum type="arabicPeriod"/>
            </a:pPr>
            <a:r>
              <a:rPr lang="en-US" sz="5400" b="1" dirty="0"/>
              <a:t>5</a:t>
            </a:r>
            <a:r>
              <a:rPr lang="en-US" sz="5400" b="1" baseline="30000" dirty="0"/>
              <a:t>th</a:t>
            </a:r>
            <a:r>
              <a:rPr lang="en-US" sz="5400" b="1" dirty="0"/>
              <a:t> Generation</a:t>
            </a:r>
          </a:p>
        </p:txBody>
      </p:sp>
      <p:pic>
        <p:nvPicPr>
          <p:cNvPr id="18434" name="Picture 2" descr="Thirty Years of the Macintosh Computer | spydersden">
            <a:extLst>
              <a:ext uri="{FF2B5EF4-FFF2-40B4-BE49-F238E27FC236}">
                <a16:creationId xmlns:a16="http://schemas.microsoft.com/office/drawing/2014/main" id="{3E02B614-33D8-667E-5D76-DFAB2BBB6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899" y="1619249"/>
            <a:ext cx="6524786" cy="504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785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978454-96F1-6B83-9ED3-B8A310209EA4}"/>
              </a:ext>
            </a:extLst>
          </p:cNvPr>
          <p:cNvSpPr/>
          <p:nvPr/>
        </p:nvSpPr>
        <p:spPr>
          <a:xfrm>
            <a:off x="1084881" y="0"/>
            <a:ext cx="9872421" cy="134835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/>
              <a:t>World 1</a:t>
            </a:r>
            <a:r>
              <a:rPr lang="en-US" sz="8000" b="1" baseline="30000" dirty="0"/>
              <a:t>st</a:t>
            </a:r>
            <a:r>
              <a:rPr lang="en-US" sz="8000" b="1" dirty="0"/>
              <a:t> Computer</a:t>
            </a:r>
          </a:p>
        </p:txBody>
      </p:sp>
      <p:pic>
        <p:nvPicPr>
          <p:cNvPr id="19458" name="Picture 2" descr="ENIAC: The First Computer on Make a GIF">
            <a:extLst>
              <a:ext uri="{FF2B5EF4-FFF2-40B4-BE49-F238E27FC236}">
                <a16:creationId xmlns:a16="http://schemas.microsoft.com/office/drawing/2014/main" id="{23688BF8-2E2F-0408-41AE-DF1AAF4AB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48352"/>
            <a:ext cx="11530738" cy="5509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426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D0080B-136A-ACB2-B82D-C121C8E17C74}"/>
              </a:ext>
            </a:extLst>
          </p:cNvPr>
          <p:cNvSpPr/>
          <p:nvPr/>
        </p:nvSpPr>
        <p:spPr>
          <a:xfrm>
            <a:off x="1" y="0"/>
            <a:ext cx="12192000" cy="134835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/>
              <a:t>World 1</a:t>
            </a:r>
            <a:r>
              <a:rPr lang="en-US" sz="8000" b="1" baseline="30000" dirty="0"/>
              <a:t>st</a:t>
            </a:r>
            <a:r>
              <a:rPr lang="en-US" sz="8000" b="1" dirty="0"/>
              <a:t> Computer -ENIAC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FAFB68-B133-CB04-3CBC-FD2597587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894" y="1348353"/>
            <a:ext cx="12218893" cy="550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27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01C636-B57B-FD7D-6D3A-5BDFD39544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90" y="165889"/>
            <a:ext cx="9051011" cy="61806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522EA4-99B0-0387-8491-14CCBC057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720" y="1701548"/>
            <a:ext cx="2998299" cy="310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69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C1BA09-084F-DB30-ED57-F323DEF1A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" y="485937"/>
            <a:ext cx="11254862" cy="554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935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F113C0-E599-B18E-275C-FBD6649DB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33" y="423796"/>
            <a:ext cx="10881926" cy="610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58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Minicomputer - Wikipedia">
            <a:extLst>
              <a:ext uri="{FF2B5EF4-FFF2-40B4-BE49-F238E27FC236}">
                <a16:creationId xmlns:a16="http://schemas.microsoft.com/office/drawing/2014/main" id="{9B3C6B7E-9F22-2935-EF6A-AFEF12C00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472" y="298544"/>
            <a:ext cx="8617056" cy="6260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926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262A82-B704-93A0-1F11-7F7963E36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74" y="0"/>
            <a:ext cx="9617323" cy="690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59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Mainframe turns 60 with no plans for retirement | Network World">
            <a:extLst>
              <a:ext uri="{FF2B5EF4-FFF2-40B4-BE49-F238E27FC236}">
                <a16:creationId xmlns:a16="http://schemas.microsoft.com/office/drawing/2014/main" id="{F111E4CE-FE45-262E-0355-F4BB89AA8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37" y="96864"/>
            <a:ext cx="10287000" cy="666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197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10987B-7264-BC9E-8931-3D4E6488F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90" y="1286358"/>
            <a:ext cx="6250285" cy="55716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488CE5-19F8-41FB-0C31-14856EEE60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772" y="1286358"/>
            <a:ext cx="5381438" cy="557164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D04F7D-E257-DEA0-0AC0-28DFABE855D3}"/>
              </a:ext>
            </a:extLst>
          </p:cNvPr>
          <p:cNvSpPr/>
          <p:nvPr/>
        </p:nvSpPr>
        <p:spPr>
          <a:xfrm>
            <a:off x="2665708" y="0"/>
            <a:ext cx="6586780" cy="128635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Super Computer</a:t>
            </a:r>
          </a:p>
        </p:txBody>
      </p:sp>
    </p:spTree>
    <p:extLst>
      <p:ext uri="{BB962C8B-B14F-4D97-AF65-F5344CB8AC3E}">
        <p14:creationId xmlns:p14="http://schemas.microsoft.com/office/powerpoint/2010/main" val="2835965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13C7B8-C94E-C999-FD7B-EBED7656E66C}"/>
              </a:ext>
            </a:extLst>
          </p:cNvPr>
          <p:cNvSpPr/>
          <p:nvPr/>
        </p:nvSpPr>
        <p:spPr>
          <a:xfrm>
            <a:off x="108488" y="0"/>
            <a:ext cx="11975024" cy="13328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Types of Computer Based on Technology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6F5BE2-BD00-4089-DCF7-3BA6FA1B45BE}"/>
              </a:ext>
            </a:extLst>
          </p:cNvPr>
          <p:cNvSpPr/>
          <p:nvPr/>
        </p:nvSpPr>
        <p:spPr>
          <a:xfrm>
            <a:off x="108488" y="1549831"/>
            <a:ext cx="4293031" cy="16002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ysClr val="windowText" lastClr="000000"/>
                </a:solidFill>
              </a:rPr>
              <a:t>Analog  </a:t>
            </a:r>
          </a:p>
          <a:p>
            <a:pPr algn="ctr"/>
            <a:r>
              <a:rPr lang="en-US" sz="6000" b="1" dirty="0">
                <a:solidFill>
                  <a:sysClr val="windowText" lastClr="000000"/>
                </a:solidFill>
              </a:rPr>
              <a:t>  Computer	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5A428D-3F76-05BB-ED69-AB27EBE1DB4A}"/>
              </a:ext>
            </a:extLst>
          </p:cNvPr>
          <p:cNvSpPr/>
          <p:nvPr/>
        </p:nvSpPr>
        <p:spPr>
          <a:xfrm>
            <a:off x="207933" y="3458058"/>
            <a:ext cx="4293031" cy="16002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ysClr val="windowText" lastClr="000000"/>
                </a:solidFill>
              </a:rPr>
              <a:t>Digital Computer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18810C-93A3-D725-7749-FBDDC4FF6C21}"/>
              </a:ext>
            </a:extLst>
          </p:cNvPr>
          <p:cNvSpPr/>
          <p:nvPr/>
        </p:nvSpPr>
        <p:spPr>
          <a:xfrm>
            <a:off x="207934" y="5275235"/>
            <a:ext cx="4293031" cy="16002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ysClr val="windowText" lastClr="000000"/>
                </a:solidFill>
              </a:rPr>
              <a:t>Hybride</a:t>
            </a:r>
            <a:r>
              <a:rPr lang="en-US" sz="5400" b="1" dirty="0">
                <a:solidFill>
                  <a:sysClr val="windowText" lastClr="000000"/>
                </a:solidFill>
              </a:rPr>
              <a:t> Computer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E91C9B-F670-D798-37C2-024B4A8CEB1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H="1">
            <a:off x="5445070" y="1332854"/>
            <a:ext cx="6302062" cy="49021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91ED3E-5870-7F47-B48A-955EBF582AFE}"/>
              </a:ext>
            </a:extLst>
          </p:cNvPr>
          <p:cNvSpPr/>
          <p:nvPr/>
        </p:nvSpPr>
        <p:spPr>
          <a:xfrm>
            <a:off x="6369803" y="5904854"/>
            <a:ext cx="4541004" cy="75941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Seismograph	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46954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A74857-2993-D941-E7FD-3ED411319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36" y="1617958"/>
            <a:ext cx="3914074" cy="31400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B1D8C7-54E7-C6C5-B1BD-87C3355A88BE}"/>
              </a:ext>
            </a:extLst>
          </p:cNvPr>
          <p:cNvSpPr/>
          <p:nvPr/>
        </p:nvSpPr>
        <p:spPr>
          <a:xfrm>
            <a:off x="3161654" y="0"/>
            <a:ext cx="6323309" cy="10073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Digital Computer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6DF40-038E-04C8-DCD8-F36BDE2073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424" y="1119143"/>
            <a:ext cx="4835471" cy="34729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CFAFE0-BE1E-575E-5DE9-6CD416248E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882" y="4243151"/>
            <a:ext cx="3487118" cy="261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58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482007-AF46-1C07-A735-F321B4724150}"/>
              </a:ext>
            </a:extLst>
          </p:cNvPr>
          <p:cNvSpPr/>
          <p:nvPr/>
        </p:nvSpPr>
        <p:spPr>
          <a:xfrm>
            <a:off x="3161654" y="0"/>
            <a:ext cx="6323309" cy="10073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bg1"/>
                </a:solidFill>
              </a:rPr>
              <a:t>Hybride</a:t>
            </a:r>
            <a:r>
              <a:rPr lang="en-US" sz="5400" b="1" dirty="0">
                <a:solidFill>
                  <a:schemeClr val="bg1"/>
                </a:solidFill>
              </a:rPr>
              <a:t> Computer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68EAE0-660D-5B74-9CC9-612B25F1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06" y="1247532"/>
            <a:ext cx="10541431" cy="541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76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34B902-6A8E-C3BE-8C8D-400D4C253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785" y="1818629"/>
            <a:ext cx="5162550" cy="503937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F8F8AD-532B-D6B1-F390-36F6FC5CD763}"/>
              </a:ext>
            </a:extLst>
          </p:cNvPr>
          <p:cNvSpPr/>
          <p:nvPr/>
        </p:nvSpPr>
        <p:spPr>
          <a:xfrm>
            <a:off x="139485" y="0"/>
            <a:ext cx="11763213" cy="131735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Types of Computer based on Purpose</a:t>
            </a:r>
          </a:p>
        </p:txBody>
      </p:sp>
    </p:spTree>
    <p:extLst>
      <p:ext uri="{BB962C8B-B14F-4D97-AF65-F5344CB8AC3E}">
        <p14:creationId xmlns:p14="http://schemas.microsoft.com/office/powerpoint/2010/main" val="20590191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A9FB85-DF9B-64BF-F58C-14FCEC483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52" y="374947"/>
            <a:ext cx="11912643" cy="605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22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99</Words>
  <Application>Microsoft Office PowerPoint</Application>
  <PresentationFormat>Widescreen</PresentationFormat>
  <Paragraphs>38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</dc:creator>
  <cp:lastModifiedBy>hira</cp:lastModifiedBy>
  <cp:revision>2</cp:revision>
  <dcterms:created xsi:type="dcterms:W3CDTF">2026-04-28T16:35:38Z</dcterms:created>
  <dcterms:modified xsi:type="dcterms:W3CDTF">2026-04-28T18:14:09Z</dcterms:modified>
</cp:coreProperties>
</file>